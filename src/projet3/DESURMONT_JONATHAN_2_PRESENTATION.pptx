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4" r:id="rId4"/>
    <p:sldId id="267" r:id="rId5"/>
    <p:sldId id="258" r:id="rId6"/>
    <p:sldId id="272" r:id="rId7"/>
    <p:sldId id="269" r:id="rId8"/>
    <p:sldId id="273" r:id="rId9"/>
    <p:sldId id="274" r:id="rId10"/>
    <p:sldId id="257" r:id="rId11"/>
    <p:sldId id="275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37FAAE-11F9-BD3A-4C39-DC0AEA989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857055-A039-2346-07A6-3353C1870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598840-3BAA-C507-26F9-E247F54CB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27B022-A216-1D7B-DF27-45E63D30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025E05-08CA-6FCE-9492-68F60B5E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36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C984B-3146-5F58-EEC6-50CD88A8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CAD43E-8ECB-AE97-06AD-A0D0C65E8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8724FA-CBE8-75A6-7FC8-97681448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77929A-486D-7CA5-5370-E6AE615A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402A23-D772-2210-61C7-B59BDF6E9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53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3875E-5D87-27C4-D96C-F933C95E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DC65815-ED8A-7A89-0B63-531CE3D66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AEB63A-EC3E-360D-0FBB-14ED3467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4E82B1-3084-F672-CC65-7A0D0736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96B9452-279D-0345-C13E-7CDF59C5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3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63C16-0FED-33BC-C8C5-8943F894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1CED36-92AB-DD93-7CFD-E37E257F5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FE2D877-CD4D-4C69-17AF-F88DC1FC4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F4BBD4-F136-B333-586E-C2A87849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465EC5-B3EE-DE3D-078A-360FEA75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1E8B41-8228-8B82-2C9D-0F3680124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708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F9B890-7C4D-FC8A-5B20-C4F76BF8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20AB27-B56D-D026-1FF9-CDA84943F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B4C42D-67DD-216F-D0B6-573DCFD46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E59C379-1704-FD49-2082-28021962F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45BC2A-A6C7-540B-B431-2AF646525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A4E796F-65C8-2794-FA2A-27E9A78C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E05311-3A8F-5F23-F93C-103E003D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CB41582-6BC7-6B4C-3D47-1B1E30B3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81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9C6BC0-FF53-BA6C-ECFE-7053AE99A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EAF1A4-8861-27B1-9F09-402B8F9C3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5662EE8-51DE-CD44-86AD-ED0D7E2C6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99A9A8D-59E4-E6F6-7B00-575097A7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2663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5D498DB-D57A-92FF-134D-0C1AD603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46E201-81E3-E6B5-AF3B-4F26848BD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6A546DE-33E6-1081-C191-A3B80D4AE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51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321BBD-E66D-D91F-A41D-DE3DA382B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F7DCB9-A4CC-4D07-A372-9F3F734BF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958A4D-46DF-55B3-35E2-72457D835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D45A7C-20EA-93D1-7BAE-13EB988C9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56F40F-DA29-6047-65E4-4B5ED2DBC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109CAB-81C6-C2ED-7FB7-08E44B25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349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A01A24-BCFF-AB9E-755C-6F7B93F90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E7CFAD-8A14-E8B8-82AB-6EEF36F79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0EF640E-EADC-9CA4-516F-8B60EED67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82F7D1-73EF-A380-B86A-743F0B059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C495C87-1DB5-97C3-93E8-9D331B18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31053C-FDCE-8784-649B-6232B111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044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A87BC-118C-9228-912A-50B1C52A8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6AB16A-EDE2-A924-D171-62D7AF32D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ADD566-BA2E-578F-C1E8-D329713E5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F7850B-CB5B-F14A-5F6F-A6F0FDD3B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D9C212-A6F6-19BD-12E8-72976B3F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66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0F505C2-1B2E-58EC-AF7C-02718BDCC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94CD83-5E8A-8314-FF4C-A71DDB1490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D6ED21-D54E-DA8C-C623-54729752B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03A5108-9EA3-28BC-3A05-2B3C27C4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EF3FC1-F764-A2F3-2BB0-1999B973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696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AF2DB5-440B-9A9A-87F7-FFBC1568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56BF4FA-C360-FD41-E9E9-4E4922C8B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A17936-3531-47DC-CBEC-C44D41C6B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71B801-098B-488C-800F-C2A024D00A1B}" type="datetimeFigureOut">
              <a:rPr lang="fr-FR" smtClean="0"/>
              <a:t>22/05/2026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0D35A8-88E0-A796-B3FD-0DCEF9B07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F7CDC7-8D24-729D-FB5E-57D14DCD5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3A283-A0F8-42B7-A226-B7392B19B2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200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565113A-7B10-59A4-744B-6CA1C777AC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2B128AF-2ECB-E8B4-060F-4DC016B833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>
                <a:cs typeface="Nachlieli CLM" panose="02000603000000000000" pitchFamily="50" charset="-79"/>
              </a:rPr>
              <a:t>Prédiction consommation énergétique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1130AE5-899F-E023-5C1B-EAFB4EF0A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cs typeface="Nachlieli CLM" panose="02000603000000000000" pitchFamily="50" charset="-79"/>
              </a:rPr>
              <a:t>Pour la ville de </a:t>
            </a:r>
            <a:r>
              <a:rPr lang="fr-FR" dirty="0">
                <a:solidFill>
                  <a:srgbClr val="FF0000"/>
                </a:solidFill>
                <a:cs typeface="Nachlieli CLM" panose="02000603000000000000" pitchFamily="50" charset="-79"/>
              </a:rPr>
              <a:t>Seattle</a:t>
            </a:r>
          </a:p>
        </p:txBody>
      </p:sp>
    </p:spTree>
    <p:extLst>
      <p:ext uri="{BB962C8B-B14F-4D97-AF65-F5344CB8AC3E}">
        <p14:creationId xmlns:p14="http://schemas.microsoft.com/office/powerpoint/2010/main" val="126547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80E32-D205-A274-2D39-037DFE18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C47AFD87-D001-34CE-AEAA-DEAA78783AEA}"/>
              </a:ext>
            </a:extLst>
          </p:cNvPr>
          <p:cNvSpPr txBox="1">
            <a:spLocks/>
          </p:cNvSpPr>
          <p:nvPr/>
        </p:nvSpPr>
        <p:spPr>
          <a:xfrm>
            <a:off x="990600" y="95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Plan</a:t>
            </a:r>
          </a:p>
        </p:txBody>
      </p:sp>
      <p:sp>
        <p:nvSpPr>
          <p:cNvPr id="4" name="Espace réservé du contenu 10">
            <a:extLst>
              <a:ext uri="{FF2B5EF4-FFF2-40B4-BE49-F238E27FC236}">
                <a16:creationId xmlns:a16="http://schemas.microsoft.com/office/drawing/2014/main" id="{28E18547-0D16-5EFC-D4A2-F48EAC94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283"/>
            <a:ext cx="10515600" cy="1767320"/>
          </a:xfrm>
        </p:spPr>
        <p:txBody>
          <a:bodyPr>
            <a:norm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Analyse exploratoire des données</a:t>
            </a:r>
          </a:p>
          <a:p>
            <a:pPr lvl="1"/>
            <a:r>
              <a:rPr lang="fr-FR" dirty="0"/>
              <a:t>Choix des variables et métriques</a:t>
            </a:r>
          </a:p>
          <a:p>
            <a:pPr lvl="1"/>
            <a:r>
              <a:rPr lang="fr-FR" dirty="0"/>
              <a:t>Premières visualisations</a:t>
            </a:r>
          </a:p>
          <a:p>
            <a:pPr lvl="1"/>
            <a:r>
              <a:rPr lang="fr-FR" dirty="0"/>
              <a:t>Nettoyage</a:t>
            </a:r>
          </a:p>
          <a:p>
            <a:pPr marL="457200" lvl="1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5" name="Espace réservé du contenu 10">
            <a:extLst>
              <a:ext uri="{FF2B5EF4-FFF2-40B4-BE49-F238E27FC236}">
                <a16:creationId xmlns:a16="http://schemas.microsoft.com/office/drawing/2014/main" id="{8528EAD2-0041-96F2-4D9B-2AFB57AD6C8C}"/>
              </a:ext>
            </a:extLst>
          </p:cNvPr>
          <p:cNvSpPr txBox="1">
            <a:spLocks/>
          </p:cNvSpPr>
          <p:nvPr/>
        </p:nvSpPr>
        <p:spPr>
          <a:xfrm>
            <a:off x="907473" y="3012500"/>
            <a:ext cx="10515600" cy="176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/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 err="1">
                <a:solidFill>
                  <a:srgbClr val="FF0000"/>
                </a:solidFill>
              </a:rPr>
              <a:t>Feature</a:t>
            </a:r>
            <a:r>
              <a:rPr lang="fr-FR" dirty="0">
                <a:solidFill>
                  <a:srgbClr val="FF0000"/>
                </a:solidFill>
              </a:rPr>
              <a:t> Engineering</a:t>
            </a:r>
          </a:p>
          <a:p>
            <a:pPr marL="457200" lvl="2" indent="0"/>
            <a:r>
              <a:rPr lang="fr-FR" dirty="0"/>
              <a:t>  </a:t>
            </a:r>
            <a:r>
              <a:rPr lang="fr-FR" sz="2400" dirty="0"/>
              <a:t>Variables retenues pour entrainer l’algorithme</a:t>
            </a:r>
          </a:p>
          <a:p>
            <a:pPr lvl="1"/>
            <a:r>
              <a:rPr lang="fr-FR" dirty="0"/>
              <a:t>Variables crées à partir du </a:t>
            </a:r>
            <a:r>
              <a:rPr lang="fr-FR" dirty="0" err="1"/>
              <a:t>dataset</a:t>
            </a:r>
            <a:r>
              <a:rPr lang="fr-FR" dirty="0"/>
              <a:t> pour entrainer l’algorithme</a:t>
            </a:r>
          </a:p>
          <a:p>
            <a:pPr lvl="1"/>
            <a:endParaRPr lang="fr-F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6" name="Espace réservé du contenu 10">
            <a:extLst>
              <a:ext uri="{FF2B5EF4-FFF2-40B4-BE49-F238E27FC236}">
                <a16:creationId xmlns:a16="http://schemas.microsoft.com/office/drawing/2014/main" id="{660B2604-FA9C-FE40-6295-D41ABA18048E}"/>
              </a:ext>
            </a:extLst>
          </p:cNvPr>
          <p:cNvSpPr txBox="1">
            <a:spLocks/>
          </p:cNvSpPr>
          <p:nvPr/>
        </p:nvSpPr>
        <p:spPr>
          <a:xfrm>
            <a:off x="990600" y="4265815"/>
            <a:ext cx="10515600" cy="176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/>
            <a:r>
              <a:rPr lang="fr-FR" dirty="0">
                <a:solidFill>
                  <a:srgbClr val="FF0000"/>
                </a:solidFill>
              </a:rPr>
              <a:t> Algorithmes d’entrainement et de tests </a:t>
            </a:r>
          </a:p>
          <a:p>
            <a:pPr marL="457200" lvl="2" indent="0"/>
            <a:r>
              <a:rPr lang="fr-FR" dirty="0"/>
              <a:t>  </a:t>
            </a:r>
            <a:r>
              <a:rPr lang="fr-FR" sz="2400" dirty="0"/>
              <a:t>Choix des algorithmes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7" name="Espace réservé du contenu 10">
            <a:extLst>
              <a:ext uri="{FF2B5EF4-FFF2-40B4-BE49-F238E27FC236}">
                <a16:creationId xmlns:a16="http://schemas.microsoft.com/office/drawing/2014/main" id="{E54E3EBE-52EE-627F-B19A-FA6DD296A7A1}"/>
              </a:ext>
            </a:extLst>
          </p:cNvPr>
          <p:cNvSpPr txBox="1">
            <a:spLocks/>
          </p:cNvSpPr>
          <p:nvPr/>
        </p:nvSpPr>
        <p:spPr>
          <a:xfrm>
            <a:off x="990600" y="5196671"/>
            <a:ext cx="10515600" cy="1767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/>
            <a:r>
              <a:rPr lang="fr-FR" dirty="0">
                <a:solidFill>
                  <a:srgbClr val="FF0000"/>
                </a:solidFill>
              </a:rPr>
              <a:t> Résultats et conclusions</a:t>
            </a:r>
          </a:p>
          <a:p>
            <a:pPr marL="457200" lvl="2" indent="0"/>
            <a:r>
              <a:rPr lang="fr-FR" dirty="0"/>
              <a:t>Valeur R²</a:t>
            </a:r>
          </a:p>
          <a:p>
            <a:pPr marL="457200" lvl="2" indent="0"/>
            <a:r>
              <a:rPr lang="fr-FR" dirty="0"/>
              <a:t>Meilleur Algorithmes</a:t>
            </a:r>
          </a:p>
          <a:p>
            <a:pPr marL="457200" lvl="2" indent="0"/>
            <a:r>
              <a:rPr lang="fr-FR" dirty="0"/>
              <a:t>Variables les plus importantes</a:t>
            </a:r>
          </a:p>
          <a:p>
            <a:pPr marL="457200" lvl="2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9112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1C9E7A-0A72-D1D0-5794-C64BAB51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DF7F7B4A-8C25-8358-EA44-36CB4BA28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49033"/>
            <a:ext cx="10515600" cy="2432339"/>
          </a:xfrm>
        </p:spPr>
        <p:txBody>
          <a:bodyPr>
            <a:normAutofit/>
          </a:bodyPr>
          <a:lstStyle/>
          <a:p>
            <a:r>
              <a:rPr lang="fr-FR" sz="2400" dirty="0"/>
              <a:t>Variable </a:t>
            </a:r>
            <a:r>
              <a:rPr lang="fr-FR" sz="2400" dirty="0">
                <a:solidFill>
                  <a:srgbClr val="FF0000"/>
                </a:solidFill>
              </a:rPr>
              <a:t>Cible</a:t>
            </a:r>
            <a:r>
              <a:rPr lang="fr-FR" sz="2400" dirty="0"/>
              <a:t> : Kilo British Thermal Unit en millions (</a:t>
            </a:r>
            <a:r>
              <a:rPr lang="fr-FR" sz="2400" dirty="0" err="1"/>
              <a:t>Kbtu</a:t>
            </a:r>
            <a:r>
              <a:rPr lang="fr-FR" sz="2400" dirty="0"/>
              <a:t>/M)</a:t>
            </a:r>
          </a:p>
          <a:p>
            <a:pPr marL="0" indent="0">
              <a:buNone/>
            </a:pPr>
            <a:endParaRPr lang="fr-FR" sz="2400" dirty="0"/>
          </a:p>
          <a:p>
            <a:r>
              <a:rPr lang="fr-FR" sz="2400" dirty="0"/>
              <a:t>Métrique </a:t>
            </a:r>
            <a:r>
              <a:rPr lang="fr-FR" sz="2400" dirty="0">
                <a:solidFill>
                  <a:srgbClr val="FF0000"/>
                </a:solidFill>
              </a:rPr>
              <a:t>comparative</a:t>
            </a:r>
            <a:r>
              <a:rPr lang="fr-FR" sz="2400" dirty="0"/>
              <a:t> : R² : Coefficient de détermination </a:t>
            </a:r>
          </a:p>
          <a:p>
            <a:pPr lvl="1"/>
            <a:r>
              <a:rPr lang="fr-FR" dirty="0"/>
              <a:t>Exprime la fiabilité de la prédiction entre 0 et 1 de la variabilité énergétique des bâtiments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ECDD92C9-65A6-F36B-5160-042320479CE6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Analyse exploratoire des données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8796352-6429-91CF-B5B5-2B02601DC3FB}"/>
              </a:ext>
            </a:extLst>
          </p:cNvPr>
          <p:cNvSpPr txBox="1"/>
          <p:nvPr/>
        </p:nvSpPr>
        <p:spPr>
          <a:xfrm>
            <a:off x="6440055" y="169538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Choix des variables et métriques</a:t>
            </a:r>
          </a:p>
        </p:txBody>
      </p:sp>
    </p:spTree>
    <p:extLst>
      <p:ext uri="{BB962C8B-B14F-4D97-AF65-F5344CB8AC3E}">
        <p14:creationId xmlns:p14="http://schemas.microsoft.com/office/powerpoint/2010/main" val="23909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C6927-F8E8-87EA-5165-D1A7D195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B913682-E8F4-481F-9CA4-21509F717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533" y="1330613"/>
            <a:ext cx="9746934" cy="4806373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E6CC1FC1-72D4-0C74-8F55-3D6E8D0CDB70}"/>
              </a:ext>
            </a:extLst>
          </p:cNvPr>
          <p:cNvSpPr txBox="1">
            <a:spLocks/>
          </p:cNvSpPr>
          <p:nvPr/>
        </p:nvSpPr>
        <p:spPr>
          <a:xfrm>
            <a:off x="990600" y="-2213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Analyse exploratoire des données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8DAF0A-26D5-4053-BE5E-7558B9049207}"/>
              </a:ext>
            </a:extLst>
          </p:cNvPr>
          <p:cNvSpPr txBox="1"/>
          <p:nvPr/>
        </p:nvSpPr>
        <p:spPr>
          <a:xfrm>
            <a:off x="7921467" y="72101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Premières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3112144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60505-E997-ED88-FE4F-8A0F713C2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F84AA54B-321E-62D3-AF7D-AA3625E2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Analyse exploratoire des données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2F27F1A-A1E8-0CBA-A58B-392922C2A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96" y="1758157"/>
            <a:ext cx="7196414" cy="4808898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CEA854F-79F6-4A9E-0167-FEE23A2C95E4}"/>
              </a:ext>
            </a:extLst>
          </p:cNvPr>
          <p:cNvSpPr txBox="1"/>
          <p:nvPr/>
        </p:nvSpPr>
        <p:spPr>
          <a:xfrm>
            <a:off x="7980219" y="123493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Premières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1418084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F9A1C-B34D-FDDE-5AC4-C2EEFE4A3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47AC64F-EFE8-4883-2A29-3CC4B0BC3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91" y="1395126"/>
            <a:ext cx="8950035" cy="5393309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551B5B9A-6E3C-E631-8735-057AE6DC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64"/>
            <a:ext cx="10515600" cy="1325563"/>
          </a:xfrm>
        </p:spPr>
        <p:txBody>
          <a:bodyPr/>
          <a:lstStyle/>
          <a:p>
            <a:r>
              <a:rPr lang="fr-FR" dirty="0"/>
              <a:t>Analyse exploratoire des données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E8BFAF9-B9BC-462B-3D40-BC134C99B414}"/>
              </a:ext>
            </a:extLst>
          </p:cNvPr>
          <p:cNvSpPr txBox="1"/>
          <p:nvPr/>
        </p:nvSpPr>
        <p:spPr>
          <a:xfrm>
            <a:off x="7860145" y="8719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Premières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626137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80FCE-08D7-E34B-AE68-ED08F3CF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EA0F039-652A-FEB7-B152-E9CAB89D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126" y="1265382"/>
            <a:ext cx="9123475" cy="5131955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E89981CC-3F51-DFB8-F572-20B0B52DB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3564"/>
            <a:ext cx="10515600" cy="1325563"/>
          </a:xfrm>
        </p:spPr>
        <p:txBody>
          <a:bodyPr/>
          <a:lstStyle/>
          <a:p>
            <a:r>
              <a:rPr lang="fr-FR" dirty="0"/>
              <a:t>Analyse exploratoire des données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B2B1ECB-2E8F-9ED9-8EBA-17485519E45E}"/>
              </a:ext>
            </a:extLst>
          </p:cNvPr>
          <p:cNvSpPr txBox="1"/>
          <p:nvPr/>
        </p:nvSpPr>
        <p:spPr>
          <a:xfrm>
            <a:off x="7758546" y="78877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Premières visualisations</a:t>
            </a:r>
          </a:p>
        </p:txBody>
      </p:sp>
    </p:spTree>
    <p:extLst>
      <p:ext uri="{BB962C8B-B14F-4D97-AF65-F5344CB8AC3E}">
        <p14:creationId xmlns:p14="http://schemas.microsoft.com/office/powerpoint/2010/main" val="1496925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B4DA2-376D-E8E7-F9E6-3AC4FC2A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8C2CE9CF-A602-C016-E527-844976026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7098"/>
            <a:ext cx="10515600" cy="4351338"/>
          </a:xfrm>
        </p:spPr>
        <p:txBody>
          <a:bodyPr>
            <a:normAutofit/>
          </a:bodyPr>
          <a:lstStyle/>
          <a:p>
            <a:r>
              <a:rPr lang="fr-FR" sz="2000" dirty="0"/>
              <a:t>Nombres de colonnes vraiment exploitables (</a:t>
            </a:r>
            <a:r>
              <a:rPr lang="fr-FR" sz="2000" dirty="0" err="1"/>
              <a:t>features</a:t>
            </a:r>
            <a:r>
              <a:rPr lang="fr-FR" sz="2000" dirty="0"/>
              <a:t>) du </a:t>
            </a:r>
            <a:r>
              <a:rPr lang="fr-FR" sz="2000" dirty="0" err="1"/>
              <a:t>dataset</a:t>
            </a:r>
            <a:r>
              <a:rPr lang="fr-FR" sz="2000" dirty="0"/>
              <a:t> 23/44 </a:t>
            </a:r>
          </a:p>
          <a:p>
            <a:endParaRPr lang="fr-FR" sz="2000" dirty="0"/>
          </a:p>
          <a:p>
            <a:r>
              <a:rPr lang="fr-FR" sz="2000" dirty="0"/>
              <a:t>Nombre de bâtiments avant : 3371</a:t>
            </a:r>
          </a:p>
          <a:p>
            <a:pPr lvl="1"/>
            <a:r>
              <a:rPr lang="fr-FR" sz="2000" dirty="0"/>
              <a:t>Filtré au 97</a:t>
            </a:r>
            <a:r>
              <a:rPr lang="fr-FR" sz="2000" baseline="30000" dirty="0"/>
              <a:t>ème</a:t>
            </a:r>
            <a:r>
              <a:rPr lang="fr-FR" sz="2000" dirty="0"/>
              <a:t> percentile pour entraîner l’algorithme</a:t>
            </a:r>
          </a:p>
          <a:p>
            <a:r>
              <a:rPr lang="fr-FR" sz="2000" dirty="0"/>
              <a:t>Nombre de lignes après : 3269</a:t>
            </a:r>
          </a:p>
          <a:p>
            <a:r>
              <a:rPr lang="fr-FR" sz="2000" dirty="0"/>
              <a:t>Nombre de lignes supprimées : 102</a:t>
            </a:r>
          </a:p>
          <a:p>
            <a:r>
              <a:rPr lang="fr-FR" sz="2000" dirty="0"/>
              <a:t>Pourcentage supprimé : 3.03 %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82A7BDE-8E42-7934-29F9-3E3CD7D8BAEA}"/>
              </a:ext>
            </a:extLst>
          </p:cNvPr>
          <p:cNvSpPr txBox="1">
            <a:spLocks/>
          </p:cNvSpPr>
          <p:nvPr/>
        </p:nvSpPr>
        <p:spPr>
          <a:xfrm>
            <a:off x="838200" y="695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Analyse exploratoire des données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A5DFE65-D221-4818-6B59-D6EC173BCBE1}"/>
              </a:ext>
            </a:extLst>
          </p:cNvPr>
          <p:cNvSpPr txBox="1"/>
          <p:nvPr/>
        </p:nvSpPr>
        <p:spPr>
          <a:xfrm>
            <a:off x="8044873" y="101968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sz="2800" dirty="0"/>
              <a:t>Nettoyage</a:t>
            </a:r>
          </a:p>
        </p:txBody>
      </p:sp>
    </p:spTree>
    <p:extLst>
      <p:ext uri="{BB962C8B-B14F-4D97-AF65-F5344CB8AC3E}">
        <p14:creationId xmlns:p14="http://schemas.microsoft.com/office/powerpoint/2010/main" val="168676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203F3-0EED-6648-5A4A-AF61BCC3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F06EC29-B04D-AE83-8065-B089666C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9454DD4-D4B2-9CFA-6546-9410E2995209}"/>
              </a:ext>
            </a:extLst>
          </p:cNvPr>
          <p:cNvSpPr txBox="1"/>
          <p:nvPr/>
        </p:nvSpPr>
        <p:spPr>
          <a:xfrm>
            <a:off x="838200" y="2891416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Variables Numériques (10) </a:t>
            </a:r>
          </a:p>
          <a:p>
            <a:endParaRPr lang="fr-FR" dirty="0"/>
          </a:p>
          <a:p>
            <a:r>
              <a:rPr lang="fr-FR" dirty="0"/>
              <a:t>    "</a:t>
            </a:r>
            <a:r>
              <a:rPr lang="fr-FR" dirty="0" err="1"/>
              <a:t>NumberofBuildings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/>
              <a:t>NumberofFloors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/>
              <a:t>PropertyGFATotal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/>
              <a:t>LargestPropertyUseTypeGFA</a:t>
            </a:r>
            <a:r>
              <a:rPr lang="fr-FR" dirty="0"/>
              <a:t>",</a:t>
            </a:r>
          </a:p>
          <a:p>
            <a:r>
              <a:rPr lang="fr-FR" dirty="0"/>
              <a:t>    "</a:t>
            </a:r>
            <a:r>
              <a:rPr lang="fr-FR" dirty="0" err="1"/>
              <a:t>SecondLargestPropertyUseTypeGFA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/>
              <a:t>ThirdLargestPropertyUseTypeGFA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>
                <a:solidFill>
                  <a:srgbClr val="FF0000"/>
                </a:solidFill>
              </a:rPr>
              <a:t>BuildingAge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>
                <a:solidFill>
                  <a:srgbClr val="FF0000"/>
                </a:solidFill>
              </a:rPr>
              <a:t>NumberOfUseTypes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>
                <a:solidFill>
                  <a:srgbClr val="FF0000"/>
                </a:solidFill>
              </a:rPr>
              <a:t>BuildingGFARatio</a:t>
            </a:r>
            <a:r>
              <a:rPr lang="fr-FR" dirty="0"/>
              <a:t>"</a:t>
            </a:r>
          </a:p>
          <a:p>
            <a:r>
              <a:rPr lang="fr-FR" dirty="0"/>
              <a:t>    "</a:t>
            </a:r>
            <a:r>
              <a:rPr lang="fr-FR" dirty="0" err="1">
                <a:solidFill>
                  <a:srgbClr val="FF0000"/>
                </a:solidFill>
              </a:rPr>
              <a:t>ParkingGFARatio</a:t>
            </a:r>
            <a:r>
              <a:rPr lang="fr-FR" dirty="0"/>
              <a:t>"</a:t>
            </a: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FE559DB-8325-DD64-D787-BA526A01E863}"/>
              </a:ext>
            </a:extLst>
          </p:cNvPr>
          <p:cNvSpPr txBox="1"/>
          <p:nvPr/>
        </p:nvSpPr>
        <p:spPr>
          <a:xfrm>
            <a:off x="5257800" y="140016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</a:t>
            </a:r>
            <a:r>
              <a:rPr lang="fr-FR" sz="1800" dirty="0"/>
              <a:t>Variables retenues pour entrainer l’algorithme</a:t>
            </a:r>
          </a:p>
          <a:p>
            <a:r>
              <a:rPr lang="fr-FR" dirty="0"/>
              <a:t> Variables crées à partir du </a:t>
            </a:r>
            <a:r>
              <a:rPr lang="fr-FR" dirty="0" err="1"/>
              <a:t>dataset</a:t>
            </a:r>
            <a:r>
              <a:rPr lang="fr-FR" dirty="0"/>
              <a:t> pour entrainer l’algorithme</a:t>
            </a:r>
          </a:p>
          <a:p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E81435E-989B-96EF-9F52-22165E1BC192}"/>
              </a:ext>
            </a:extLst>
          </p:cNvPr>
          <p:cNvSpPr txBox="1"/>
          <p:nvPr/>
        </p:nvSpPr>
        <p:spPr>
          <a:xfrm>
            <a:off x="6615544" y="2891416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Variables Catégorielles (5)</a:t>
            </a:r>
          </a:p>
          <a:p>
            <a:endParaRPr lang="fr-FR" dirty="0"/>
          </a:p>
          <a:p>
            <a:r>
              <a:rPr lang="en-US" dirty="0"/>
              <a:t>    "</a:t>
            </a:r>
            <a:r>
              <a:rPr lang="en-US" dirty="0" err="1"/>
              <a:t>BuildingType</a:t>
            </a:r>
            <a:r>
              <a:rPr lang="en-US" dirty="0"/>
              <a:t>",</a:t>
            </a:r>
          </a:p>
          <a:p>
            <a:r>
              <a:rPr lang="en-US" dirty="0"/>
              <a:t>    "</a:t>
            </a:r>
            <a:r>
              <a:rPr lang="en-US" dirty="0" err="1"/>
              <a:t>PrimaryPropertyType</a:t>
            </a:r>
            <a:r>
              <a:rPr lang="en-US" dirty="0"/>
              <a:t>",</a:t>
            </a:r>
          </a:p>
          <a:p>
            <a:r>
              <a:rPr lang="en-US" dirty="0"/>
              <a:t>    "</a:t>
            </a:r>
            <a:r>
              <a:rPr lang="en-US" dirty="0" err="1"/>
              <a:t>LargestPropertyUseType</a:t>
            </a:r>
            <a:r>
              <a:rPr lang="en-US" dirty="0"/>
              <a:t>",</a:t>
            </a:r>
          </a:p>
          <a:p>
            <a:r>
              <a:rPr lang="en-US" dirty="0"/>
              <a:t>    "</a:t>
            </a:r>
            <a:r>
              <a:rPr lang="en-US" dirty="0" err="1">
                <a:solidFill>
                  <a:srgbClr val="FF0000"/>
                </a:solidFill>
              </a:rPr>
              <a:t>BuildingAgeCategory</a:t>
            </a:r>
            <a:r>
              <a:rPr lang="en-US" dirty="0"/>
              <a:t>"</a:t>
            </a:r>
            <a:r>
              <a:rPr lang="en-US" dirty="0">
                <a:solidFill>
                  <a:srgbClr val="FF0000"/>
                </a:solidFill>
              </a:rPr>
              <a:t>,</a:t>
            </a:r>
          </a:p>
          <a:p>
            <a:r>
              <a:rPr lang="en-US" dirty="0">
                <a:solidFill>
                  <a:srgbClr val="FF0000"/>
                </a:solidFill>
              </a:rPr>
              <a:t>  </a:t>
            </a:r>
            <a:r>
              <a:rPr lang="en-US" dirty="0"/>
              <a:t>  "</a:t>
            </a:r>
            <a:r>
              <a:rPr lang="en-US" dirty="0" err="1">
                <a:solidFill>
                  <a:srgbClr val="FF0000"/>
                </a:solidFill>
              </a:rPr>
              <a:t>usage_type</a:t>
            </a:r>
            <a:r>
              <a:rPr lang="en-US" dirty="0"/>
              <a:t>"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0801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2DD67A-B4D8-0F12-C03E-6E783300E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Feature</a:t>
            </a:r>
            <a:r>
              <a:rPr lang="fr-FR" dirty="0"/>
              <a:t> Engineering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16581733-C451-CC54-B14B-DB9F1D9E8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/>
              <a:t>Usage type</a:t>
            </a:r>
            <a:endParaRPr lang="fr-FR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14A6217-7CAA-42D6-2D29-416BF9B30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298" y="2890120"/>
            <a:ext cx="5965393" cy="39629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63DC0D8-4C47-BB42-4745-7562E4CCC274}"/>
              </a:ext>
            </a:extLst>
          </p:cNvPr>
          <p:cNvSpPr txBox="1"/>
          <p:nvPr/>
        </p:nvSpPr>
        <p:spPr>
          <a:xfrm>
            <a:off x="5966691" y="126087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fr-FR" dirty="0"/>
              <a:t>Variables crées à partir du </a:t>
            </a:r>
            <a:r>
              <a:rPr lang="fr-FR" dirty="0" err="1"/>
              <a:t>dataset</a:t>
            </a:r>
            <a:r>
              <a:rPr lang="fr-FR" dirty="0"/>
              <a:t> pour entrainer l’algorithme</a:t>
            </a:r>
          </a:p>
        </p:txBody>
      </p:sp>
    </p:spTree>
    <p:extLst>
      <p:ext uri="{BB962C8B-B14F-4D97-AF65-F5344CB8AC3E}">
        <p14:creationId xmlns:p14="http://schemas.microsoft.com/office/powerpoint/2010/main" val="4028990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914C9-8C3F-B180-48A3-67B621A27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72F7F9CF-E857-204F-3363-C522FA568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BE86915-5801-F129-32B5-88E8BA43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 d’entrainement et de tests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E1F1324-610E-E67C-0875-9B323EE94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4389"/>
            <a:ext cx="10515600" cy="4168486"/>
          </a:xfrm>
        </p:spPr>
        <p:txBody>
          <a:bodyPr/>
          <a:lstStyle/>
          <a:p>
            <a:r>
              <a:rPr lang="fr-FR" dirty="0"/>
              <a:t>Régression Linéaire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Validation croisée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Foret aléatoire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3042149-4D38-FB04-C57A-9B1557917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8" y="1443038"/>
            <a:ext cx="1941946" cy="19419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B4D86B1-6DA0-5E20-1831-8EE77E7E6A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9" y="3506571"/>
            <a:ext cx="2690092" cy="15131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B9418F57-9179-2B06-8E03-B50C5138A7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8" y="5264727"/>
            <a:ext cx="2124364" cy="159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39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54D4EA-5B62-FFCD-1C78-9B5FC2085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7E0CD-9DC0-7A22-020C-14BD3F68E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fr-FR" dirty="0"/>
              <a:t>Résultats et conclusions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A5C4F34-0AD2-3781-4FFD-641B44611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4389"/>
            <a:ext cx="10515600" cy="4168486"/>
          </a:xfrm>
        </p:spPr>
        <p:txBody>
          <a:bodyPr/>
          <a:lstStyle/>
          <a:p>
            <a:r>
              <a:rPr lang="fr-FR" dirty="0"/>
              <a:t>Régression Linéaire 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Validation croisée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r>
              <a:rPr lang="fr-FR" b="1" dirty="0"/>
              <a:t>Foret aléatoire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9A136A5-8829-F106-0D05-3C44CABE8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8" y="1443038"/>
            <a:ext cx="1941946" cy="1941946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0A16639-2C28-E3C1-3E17-89B4146C2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9" y="3506571"/>
            <a:ext cx="2690092" cy="15131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01C584B-57E5-0DFA-F9FA-C1F88DBA74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08" y="5264727"/>
            <a:ext cx="2124364" cy="159327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1AF5C43-5BCE-6590-1FF2-482C359AA53B}"/>
              </a:ext>
            </a:extLst>
          </p:cNvPr>
          <p:cNvSpPr txBox="1"/>
          <p:nvPr/>
        </p:nvSpPr>
        <p:spPr>
          <a:xfrm>
            <a:off x="8278514" y="1955057"/>
            <a:ext cx="239872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Valeur R² = </a:t>
            </a:r>
            <a:r>
              <a:rPr lang="fr-FR" sz="2200" dirty="0">
                <a:solidFill>
                  <a:srgbClr val="FF0000"/>
                </a:solidFill>
              </a:rPr>
              <a:t>0,720</a:t>
            </a:r>
          </a:p>
          <a:p>
            <a:r>
              <a:rPr lang="fr-FR" sz="2200" dirty="0">
                <a:solidFill>
                  <a:srgbClr val="FF0000"/>
                </a:solidFill>
              </a:rPr>
              <a:t>= 72%</a:t>
            </a:r>
          </a:p>
          <a:p>
            <a:r>
              <a:rPr lang="fr-FR" sz="2200" dirty="0"/>
              <a:t>MAE : 1M</a:t>
            </a:r>
          </a:p>
          <a:p>
            <a:r>
              <a:rPr lang="fr-FR" sz="2200" dirty="0"/>
              <a:t>RMSE : 2M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703F512-9E09-E3EA-83EC-0A153A20B933}"/>
              </a:ext>
            </a:extLst>
          </p:cNvPr>
          <p:cNvSpPr txBox="1"/>
          <p:nvPr/>
        </p:nvSpPr>
        <p:spPr>
          <a:xfrm>
            <a:off x="8278514" y="3665976"/>
            <a:ext cx="19923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Valeur R² = </a:t>
            </a:r>
            <a:r>
              <a:rPr lang="fr-FR" sz="2200" dirty="0">
                <a:solidFill>
                  <a:srgbClr val="FF0000"/>
                </a:solidFill>
              </a:rPr>
              <a:t>0,68</a:t>
            </a:r>
          </a:p>
          <a:p>
            <a:r>
              <a:rPr lang="fr-FR" sz="2200" dirty="0">
                <a:solidFill>
                  <a:srgbClr val="FF0000"/>
                </a:solidFill>
              </a:rPr>
              <a:t>= 68%</a:t>
            </a:r>
          </a:p>
          <a:p>
            <a:r>
              <a:rPr lang="fr-FR" sz="2200" dirty="0"/>
              <a:t>MAE : 1M</a:t>
            </a:r>
          </a:p>
          <a:p>
            <a:r>
              <a:rPr lang="fr-FR" sz="2200" dirty="0"/>
              <a:t>RMSE : 2M</a:t>
            </a:r>
          </a:p>
          <a:p>
            <a:endParaRPr lang="fr-FR" sz="2200" dirty="0">
              <a:solidFill>
                <a:srgbClr val="FF0000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3E8B5C1-D29C-A1AA-DA45-09C813BDE6B7}"/>
              </a:ext>
            </a:extLst>
          </p:cNvPr>
          <p:cNvSpPr txBox="1"/>
          <p:nvPr/>
        </p:nvSpPr>
        <p:spPr>
          <a:xfrm>
            <a:off x="8278514" y="5341472"/>
            <a:ext cx="239872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200" dirty="0"/>
              <a:t>Valeur R² = </a:t>
            </a:r>
            <a:r>
              <a:rPr lang="fr-FR" sz="2200" dirty="0">
                <a:solidFill>
                  <a:srgbClr val="FF0000"/>
                </a:solidFill>
              </a:rPr>
              <a:t>0,726</a:t>
            </a:r>
          </a:p>
          <a:p>
            <a:r>
              <a:rPr lang="fr-FR" sz="2200" dirty="0">
                <a:solidFill>
                  <a:srgbClr val="FF0000"/>
                </a:solidFill>
              </a:rPr>
              <a:t>= 72,6%</a:t>
            </a:r>
          </a:p>
          <a:p>
            <a:r>
              <a:rPr lang="fr-FR" sz="2200" dirty="0"/>
              <a:t>MAE : 1M</a:t>
            </a:r>
          </a:p>
          <a:p>
            <a:r>
              <a:rPr lang="fr-FR" sz="2200" dirty="0"/>
              <a:t>RMSE : 2M</a:t>
            </a:r>
          </a:p>
          <a:p>
            <a:endParaRPr lang="fr-FR" sz="2200" dirty="0">
              <a:solidFill>
                <a:srgbClr val="FF0000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9C77C3D-C1FE-D65F-4385-BEE2E1910D29}"/>
              </a:ext>
            </a:extLst>
          </p:cNvPr>
          <p:cNvSpPr txBox="1"/>
          <p:nvPr/>
        </p:nvSpPr>
        <p:spPr>
          <a:xfrm>
            <a:off x="6302478" y="847080"/>
            <a:ext cx="733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0"/>
            <a:r>
              <a:rPr lang="fr-FR" sz="2400" dirty="0"/>
              <a:t>Valeur R² : prédiction fiable </a:t>
            </a:r>
          </a:p>
        </p:txBody>
      </p:sp>
    </p:spTree>
    <p:extLst>
      <p:ext uri="{BB962C8B-B14F-4D97-AF65-F5344CB8AC3E}">
        <p14:creationId xmlns:p14="http://schemas.microsoft.com/office/powerpoint/2010/main" val="3281056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DBE1D-6D95-AA61-59CE-E5CBACF4C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E89B68A-6645-0E1D-A115-487C7F515D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075" y="1330613"/>
            <a:ext cx="7369849" cy="552738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1B6F81B7-F44B-41FB-53CF-2649987D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-152246"/>
            <a:ext cx="10515600" cy="1325563"/>
          </a:xfrm>
        </p:spPr>
        <p:txBody>
          <a:bodyPr/>
          <a:lstStyle/>
          <a:p>
            <a:r>
              <a:rPr lang="fr-FR" dirty="0"/>
              <a:t>Résultats et conclusions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1593557-323A-F69B-F0C6-A8D1D2EED58F}"/>
              </a:ext>
            </a:extLst>
          </p:cNvPr>
          <p:cNvSpPr txBox="1"/>
          <p:nvPr/>
        </p:nvSpPr>
        <p:spPr>
          <a:xfrm>
            <a:off x="6430296" y="711652"/>
            <a:ext cx="7334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0"/>
            <a:r>
              <a:rPr lang="fr-FR" sz="2400" dirty="0"/>
              <a:t>Meilleur algorithme pour ce </a:t>
            </a:r>
            <a:r>
              <a:rPr lang="fr-FR" sz="2400" dirty="0" err="1"/>
              <a:t>dataset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749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77CAAF-CB9D-B82D-D65D-C034E0A0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7F39A21F-C505-1BA0-7F2E-03A3ECC4C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61491"/>
              </p:ext>
            </p:extLst>
          </p:nvPr>
        </p:nvGraphicFramePr>
        <p:xfrm>
          <a:off x="2303840" y="1225859"/>
          <a:ext cx="7584319" cy="5032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21560">
                  <a:extLst>
                    <a:ext uri="{9D8B030D-6E8A-4147-A177-3AD203B41FA5}">
                      <a16:colId xmlns:a16="http://schemas.microsoft.com/office/drawing/2014/main" val="3156878231"/>
                    </a:ext>
                  </a:extLst>
                </a:gridCol>
                <a:gridCol w="3254815">
                  <a:extLst>
                    <a:ext uri="{9D8B030D-6E8A-4147-A177-3AD203B41FA5}">
                      <a16:colId xmlns:a16="http://schemas.microsoft.com/office/drawing/2014/main" val="3278199664"/>
                    </a:ext>
                  </a:extLst>
                </a:gridCol>
                <a:gridCol w="2207944">
                  <a:extLst>
                    <a:ext uri="{9D8B030D-6E8A-4147-A177-3AD203B41FA5}">
                      <a16:colId xmlns:a16="http://schemas.microsoft.com/office/drawing/2014/main" val="1929785044"/>
                    </a:ext>
                  </a:extLst>
                </a:gridCol>
              </a:tblGrid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Rang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Feature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Importance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2059189577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PropertyGFATotal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0.450496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414076328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2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LargestPropertyUseTypeGFA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0.199530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2924855909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3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 err="1">
                          <a:solidFill>
                            <a:srgbClr val="FF0000"/>
                          </a:solidFill>
                          <a:effectLst/>
                        </a:rPr>
                        <a:t>BuildingAge</a:t>
                      </a:r>
                      <a:endParaRPr lang="fr-FR" sz="11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0.041213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1631039129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4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NumberofFloors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0.039569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4290715785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5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PrimaryPropertyType_Supermarket / Grocery Store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0.033799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3601629638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6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SecondLargestPropertyUseTypeGFA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0.022280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1382668096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7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BuildingType_NonResidential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0.018691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2481075683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8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LargestPropertyUseType_Multifamily Housing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0.017917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1492538611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9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ThirdLargestPropertyUseTypeGFA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0.017205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1005088125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10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 err="1">
                          <a:effectLst/>
                        </a:rPr>
                        <a:t>LargestPropertyUseType_Other</a:t>
                      </a:r>
                      <a:r>
                        <a:rPr lang="fr-FR" sz="1100" kern="100" dirty="0">
                          <a:effectLst/>
                        </a:rPr>
                        <a:t> - </a:t>
                      </a:r>
                      <a:r>
                        <a:rPr lang="fr-FR" sz="1100" kern="100" dirty="0" err="1">
                          <a:effectLst/>
                        </a:rPr>
                        <a:t>Recreation</a:t>
                      </a:r>
                      <a:endParaRPr lang="fr-F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0.008223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365923255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11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PrimaryPropertyType_Other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0.008083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1315349084"/>
                  </a:ext>
                </a:extLst>
              </a:tr>
              <a:tr h="4631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12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LargestPropertyUseType_Supermarket/Grocery Store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0.008042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3885120287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13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 err="1">
                          <a:solidFill>
                            <a:srgbClr val="FF0000"/>
                          </a:solidFill>
                          <a:effectLst/>
                        </a:rPr>
                        <a:t>NumberOfUseTypes</a:t>
                      </a:r>
                      <a:endParaRPr lang="fr-FR" sz="11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0.007714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2601875031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solidFill>
                            <a:srgbClr val="FF0000"/>
                          </a:solidFill>
                          <a:effectLst/>
                        </a:rPr>
                        <a:t>14</a:t>
                      </a:r>
                      <a:endParaRPr lang="fr-FR" sz="1100" kern="1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 err="1">
                          <a:solidFill>
                            <a:srgbClr val="FF0000"/>
                          </a:solidFill>
                          <a:effectLst/>
                        </a:rPr>
                        <a:t>BuildingGFARatio</a:t>
                      </a:r>
                      <a:endParaRPr lang="fr-FR" sz="11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0.006252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3568709790"/>
                  </a:ext>
                </a:extLst>
              </a:tr>
              <a:tr h="2649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>
                          <a:effectLst/>
                        </a:rPr>
                        <a:t>15</a:t>
                      </a:r>
                      <a:endParaRPr lang="fr-FR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 err="1">
                          <a:solidFill>
                            <a:srgbClr val="FF0000"/>
                          </a:solidFill>
                          <a:effectLst/>
                        </a:rPr>
                        <a:t>ParkingGFARatio</a:t>
                      </a:r>
                      <a:endParaRPr lang="fr-FR" sz="1100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fr-FR" sz="1100" kern="100" dirty="0">
                          <a:effectLst/>
                        </a:rPr>
                        <a:t>0.006199</a:t>
                      </a:r>
                      <a:endParaRPr lang="fr-FR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45" marR="68545" marT="0" marB="0"/>
                </a:tc>
                <a:extLst>
                  <a:ext uri="{0D108BD9-81ED-4DB2-BD59-A6C34878D82A}">
                    <a16:rowId xmlns:a16="http://schemas.microsoft.com/office/drawing/2014/main" val="3807377841"/>
                  </a:ext>
                </a:extLst>
              </a:tr>
            </a:tbl>
          </a:graphicData>
        </a:graphic>
      </p:graphicFrame>
      <p:sp>
        <p:nvSpPr>
          <p:cNvPr id="19" name="Titre 1">
            <a:extLst>
              <a:ext uri="{FF2B5EF4-FFF2-40B4-BE49-F238E27FC236}">
                <a16:creationId xmlns:a16="http://schemas.microsoft.com/office/drawing/2014/main" id="{479B772C-9A44-06C0-D9D8-6B8DA855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77" y="-152246"/>
            <a:ext cx="10515600" cy="1325563"/>
          </a:xfrm>
        </p:spPr>
        <p:txBody>
          <a:bodyPr/>
          <a:lstStyle/>
          <a:p>
            <a:r>
              <a:rPr lang="fr-FR" dirty="0"/>
              <a:t>Résultats et conclusions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B81C0D9-0EAB-8E3E-65C4-CDC0AC0FC574}"/>
              </a:ext>
            </a:extLst>
          </p:cNvPr>
          <p:cNvSpPr txBox="1"/>
          <p:nvPr/>
        </p:nvSpPr>
        <p:spPr>
          <a:xfrm>
            <a:off x="6666272" y="645590"/>
            <a:ext cx="6154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0"/>
            <a:r>
              <a:rPr lang="fr-FR" dirty="0"/>
              <a:t>Variables les plus importantes</a:t>
            </a:r>
          </a:p>
        </p:txBody>
      </p:sp>
    </p:spTree>
    <p:extLst>
      <p:ext uri="{BB962C8B-B14F-4D97-AF65-F5344CB8AC3E}">
        <p14:creationId xmlns:p14="http://schemas.microsoft.com/office/powerpoint/2010/main" val="40536853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429</Words>
  <Application>Microsoft Office PowerPoint</Application>
  <PresentationFormat>Grand écran</PresentationFormat>
  <Paragraphs>148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Nachlieli CLM</vt:lpstr>
      <vt:lpstr>Thème Office</vt:lpstr>
      <vt:lpstr>Prédiction consommation énergétique</vt:lpstr>
      <vt:lpstr>Présentation PowerPoint</vt:lpstr>
      <vt:lpstr>Présentation PowerPoint</vt:lpstr>
      <vt:lpstr>Présentation PowerPoint</vt:lpstr>
      <vt:lpstr>Analyse exploratoire des données</vt:lpstr>
      <vt:lpstr>Analyse exploratoire des données</vt:lpstr>
      <vt:lpstr>Analyse exploratoire des données</vt:lpstr>
      <vt:lpstr>Présentation PowerPoint</vt:lpstr>
      <vt:lpstr>Feature Engineering</vt:lpstr>
      <vt:lpstr>Feature Engineering</vt:lpstr>
      <vt:lpstr>Algorithmes d’entrainement et de tests</vt:lpstr>
      <vt:lpstr>Résultats et conclusions</vt:lpstr>
      <vt:lpstr>Résultats et conclusions</vt:lpstr>
      <vt:lpstr>Résultats et 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Desurmont</dc:creator>
  <cp:lastModifiedBy>Jonathan Desurmont</cp:lastModifiedBy>
  <cp:revision>5</cp:revision>
  <dcterms:created xsi:type="dcterms:W3CDTF">2026-05-22T12:09:08Z</dcterms:created>
  <dcterms:modified xsi:type="dcterms:W3CDTF">2026-05-22T18:40:42Z</dcterms:modified>
</cp:coreProperties>
</file>